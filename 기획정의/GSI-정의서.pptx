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화면·UI·기능 정의서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 · 프로그램 상세 분석 · 실시간 현황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2026-08-31 · v0.2 (편성표 + 프로그램 상세 분석) · 기준 빌드 kt-rev-260820 · 화면은 1920px 폭 캡처, 데이터는 더미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문서를 읽는 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「지도 → 확대 → 규칙」 세 단계로 내려갑니다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장: 화면 전체 캡처 위에 번호 핀을 찍고, 오른쪽에 핀 목록을 둡니다. 번호는 확대 장의 표와 같습니다.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장: 해당 영역을 원본 크기로 잘라 붙이고, 요소 하나가 표 한 줄입니다.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장: 화면 전체에 걸치는 상태 표기·숫자 표기·색 규칙을 한 표로 모읍니다.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「KT 제공」은 KT 원본 화면에 이미 있던 기능, 「추가」는 KT 요청·피드백으로 붙인 기능입니다. 요청 번호는 KT 8/20 요청서(#n)·8/27 피드백(8/27-n)·8/28 요구(8/28-n) 기준입니다.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데이터는 전부 더미입니다. 값의 의미와 산식은 「개발사 인수 항목」(부록 B)에 따로 적었습니다.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324"/>
                <a:gridCol w="84579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 컬럼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뜻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화면에 보이는 것의 이름 (핀 번호와 같음)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안에서 어디에 놓이는지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언제 보이고 언제 숨는지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값을 어떤 형식으로 찍는지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누르거나 올렸을 때 무엇이 일어나는지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비활성·오류·빈 값·상한 같은 경계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/ 추가(요청 번호)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 — 지도 · 확대 9장 · 규칙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상세 분석 — 지도 · 확대 · 규칙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현황 — 지도 · 확대 · 규칙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공통 규칙 (상태 칩 · 숫자 · 시각 · 색)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디자인 시스템 (토큰 · 컴포넌트 3분류)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KT 확인 대기 10건 · 개발사 인수 항목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94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B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화면이 하나의 작업 흐름으로 이어집니다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화면 흐름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GNB 「시청행태 분석」 아래 편성표 → 상세 분석, 「실시간 현황」은 독립 진입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3768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3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3768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0928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기간·채널·카테고리로 조회 → 타임라인/리스트에서 프로그램을 찾고 최대 5개 담기 → 분석하기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47008" y="2514600"/>
            <a:ext cx="548640" cy="365760"/>
          </a:xfrm>
          <a:prstGeom prst="rightArrow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2808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3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2808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상세 분석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9968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담은 프로그램(편성표 5 + 상세 5 = 최대 10)을 전환하며 10개 차트로 성과 분석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96048" y="2514600"/>
            <a:ext cx="548640" cy="365760"/>
          </a:xfrm>
          <a:prstGeom prst="rightArrow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1848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3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1848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현황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19008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방송 중인 우리 프로그램과 인접 채널 유입·유출을 실시간으로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1127729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 → 상세: 「분석하기」가 담은 프로그램 목록과 선택한 일반채널 목록을 넘깁니다 (sessionStorage + URL 파라미터, KT 원본 static-navigation 방식 유지).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→ 편성표: GNB 「편성」 또는 브라우저 뒤로 가기. 담은 목록은 브라우저 저장소에 남아 다시 돌아와도 유지됩니다.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현황: GNB 첫 메뉴. 다른 화면과 데이터를 주고받지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94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B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schedule.html — 시간 위에 무엇이 놓였는지 보는 화면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 — 화면 지도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1920px 폭 · 기준 시각 06.19(금) 09:20 · 조회 기간 05.20–06.19 (31일)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gen/schedul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989909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4989909" cy="502920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97953" y="124901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97953" y="124901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0828" y="148475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828" y="1484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1797" y="182527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1797" y="18252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05863" y="20322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5863" y="20322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919097" y="20322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19097" y="20322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901363" y="20322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01363" y="20322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05863" y="224437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5863" y="2244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05863" y="244344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5863" y="2443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05863" y="258751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5863" y="258751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05863" y="274205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5863" y="27420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38472" y="289398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38472" y="289398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133285" y="316639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33285" y="31663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09409" y="332355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9409" y="332355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146381" y="332355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46381" y="332355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577161" y="332093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77161" y="332093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878390" y="332093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78390" y="332093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729686" y="329998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29686" y="3299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374267" y="342571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374267" y="342571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66572" y="361430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6572" y="361430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023872" y="361430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023872" y="361430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185672" y="358549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5672" y="35854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1266873" y="405174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66873" y="40517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991624" y="361430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991624" y="361430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66572" y="485851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66572" y="4858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2154841" y="485851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154841" y="4858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35603" y="570980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35603" y="570980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800409" y="570980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00409" y="570980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5190696" y="549240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90696" y="549240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767149" y="1280160"/>
            <a:ext cx="2892233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GNB · 데이터 기준 시각 (06.19(금) 09:20 기준)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제목 「편성표」 + 경로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조건 카드 (접기·펼치기)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기간 (시작–종료, 최대 31일)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요일 칩 (월–일)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 (시작 시–종료 시)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홈쇼핑사 칩 17개 + 전체 선택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일반채널 칩 14개 + 전체 선택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공통카테고리 칩 12개 (필터가 아니라 강조)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프로그램명 검색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다운로드 · 초기화 · 조회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결과 요약 (6사 · 4216편 · 31일)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 탭 타임라인 / 리스트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조회일 스테퍼 (하루 앞뒤)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8750822" y="1280160"/>
            <a:ext cx="2892233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순서 (구분 / 번호순)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 버튼 (현재 시각으로 이동)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미니맵 (표시 중 구간 · 현재 시각)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시간축 + NOW 09:20 캡션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열 (채널 번호 · 로고 · 이름 · 자사 배지)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 블록 (프로그램명 · 시간 · 집계 상태)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 AIR 배지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 세로선 (붉은 2px)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하루 성과 레일 (분UV · 스파크라인)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일반채널 레인 (지상파 4)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재핑 세로선 (종료 직전 이탈 시점)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바구니 (담은 수 / 5)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보기 · 전체 비우기 · 분석하기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맨 위로 버튼 (스크롤 시 표시)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02-1 조회 조건 ① 기간 · 요일 · 시간대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3 · 4 · 5 ·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gen/schedule-filter-0-0-1825-1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7295" cy="9269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1277295" cy="926901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341" y="140524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341" y="140524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212580" y="190577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12580" y="190577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962386" y="190577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62386" y="190577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279638" y="190577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9638" y="190577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35661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 조회 조건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카드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항상. 헤더의 화살표로 접기·펼치기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 「조회 조건」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접으면 본문만 숨고 조회 결과는 그대로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접힘 상태는 새로고침 시 초기화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 조회 기간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왼쪽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「MM.DD(요일)」 두 칸, 기본 오늘−30일 ~ 오늘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칸을 누르면 달력 팝오버, 날짜 선택 즉시 반영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31일 초과 시 붉은 안내 + 조회 버튼 잠김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(31일 상한은 8/20 #2)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 요일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가운데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월–일 7칩, 기본 전부 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토글. 프로그램 방송일 요일로 거름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전부 끄면 「미선택 = 전체」로 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 시간대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시 ~ 종료 시, 00–23시 선택 상자 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 시작 시각 기준으로 거름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&gt; 종료면 종료를 시작으로 맞춤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조건은 「기간 → 요일 → 시간대 → 채널 → 카테고리 → 검색어」 순서로 넓은 것에서 좁은 것으로 내려갑니다.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02-2 조회 조건 ② 채널 · 카테고리 · 검색 · 버튼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7 · 8 · 9 · 10 ·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gen/schedule-filter-0-140-1825-3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0544489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0544489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6364" y="151710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364" y="15171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156364" y="195621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6364" y="195621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156364" y="227399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6364" y="2273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156364" y="261488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6364" y="26148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944842" y="294999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44842" y="294999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 홈쇼핑사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17개 사 칩 + 「전체 선택」. 기본 6사 켬 (GS·CJ·현대·롯데·NS·KT알파)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토글. 켠 채널만 타임라인 행·리스트에 나옴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전부 끄면 결과 0건 안내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(17사 확장은 8/20 #4)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 일반채널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14개 채널 칩 + 「전체 선택」. 기본 KBS1·KBS2·MBC·SBS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토글. 켠 채널이 타임라인 아래 일반채널 레인·리스트 시간 줄에 나옴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분석으로 그대로 넘어감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 공통카테고리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12종 칩, 칩마다 고유색. 기본 전부 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켜면 그 카테고리 블록에 색이 들어옴. 거르지 않음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전부 끄면 블록이 전부 회색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#3, 결정 02)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프로그램명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즉시 반영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검색어가 있으면 뷰를 리스트로 권장 (자동 전환)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비우면 타임라인 권장으로 복귀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 엑셀 다운로드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5행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「종합편성표_YYYYMMDD_YYYYMMDD.xlsx」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조건 그대로 파일 생성 (화면은 토스트까지, 생성은 서버)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범위 31일 — KT 확인 대기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(범위 확장 8/20 #2)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 초기화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5행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조건을 기본값으로, 뷰 자동 모드로 복귀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바구니는 비우지 않음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 조회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5행 오른쪽 끝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보라 채움 버튼 (h48)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조건으로 다시 그림, 뷰 자동 결정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 31일 초과 시 비활성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칩은 「내 카테고리가 남의 편성 사이 어디에 놓였나」를 보이기 위해 거르지 않고 색만 입힙니다 (8/23 결정 02).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02-3 조회 결과 헤더 · 뷰 탭 · 날짜 · 채널 순서 · NOW · 미니맵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12 –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schedule-res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7295" cy="8342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1277295" cy="834211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01274" y="14176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01274" y="14176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965406" y="178836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5406" y="1788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984997" y="178836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84997" y="1788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719424" y="178218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19424" y="178218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430049" y="178218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0049" y="178218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438334" y="173275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38334" y="1732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42971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 조회 결과 요약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카드 헤더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「N사 · N편 · N일」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0건이면 「조건에 맞는 편성이 없습니다」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 뷰 탭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아래 왼쪽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 / 리스트, 활성 탭 밑줄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수동 모드. 검색어 유무로 권장 뷰가 다르면 오른쪽 끝에 「조회 조건 기준 권장: …」 안내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기본은 타임라인 (기간이 길어도)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(기본 뷰 규칙은 8/23 결정 01)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 조회일 스테퍼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 탭 옆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(리스트에서도)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「MM.DD(요일)」, 좌우 화살표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하루씩 이동. 날짜를 누르면 달력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기간 밖·기준일 이후로는 비활성 + 툴팁 사유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(8/23 결정 01)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 채널 순서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 뷰만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세그먼트 「구분 / 번호순」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= 자사 → 홈쇼핑 → 일반채널, 번호순 = 채널 번호순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리스트 뷰에서는 숨김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 NOW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순서 옆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 뷰 + 조회 기간에 오늘이 포함될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붉은 테두리 칩 「● NOW」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조회일을 오늘로 되돌리고 현재 시각이 가운데 오도록 스크롤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기간이 오늘을 안 품으면 숨김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(8/30 · 8/31 유지 확정)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 미니맵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끝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 뷰만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0–24 눈금, 표시 중 구간 상자, 현재 시각 붉은 선, 왼쪽에 「HH:MM – HH:MM 표시 중」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상자를 끌거나 눈금을 누르면 그 시각으로 이동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가로가 좁아지면 캡션부터 숨김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(현재 시각 선은 8/30 추가)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한 줄에 보기 방식·날짜·정렬·시각 이동을 모두 두어, 스크롤 없이 「어디를 보고 있는지」가 늘 보이게 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02-4 타임라인 본체 ① 축 · 채널 열 · 편성 블록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18 – 21 · 4px = 1분 · 하루 24시간 = 5,760px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schedule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035040" cy="279099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035040" cy="2790999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11491" y="123656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11491" y="12365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44297" y="147466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4297" y="1474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199320" y="156725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9320" y="15672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273396" y="143828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73396" y="143828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967935" cy="914400"/>
        </p:xfrm>
        <a:graphic>
          <a:graphicData uri="http://schemas.openxmlformats.org/drawingml/2006/table">
            <a:tbl>
              <a:tblPr/>
              <a:tblGrid>
                <a:gridCol w="607192"/>
                <a:gridCol w="607192"/>
                <a:gridCol w="717591"/>
                <a:gridCol w="883188"/>
                <a:gridCol w="883188"/>
                <a:gridCol w="827989"/>
                <a:gridCol w="4415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 시간축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본체 맨 위, 스크롤 시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1시간 눈금 「HH:00」, 날짜 경계에 「M.DD」 배지, 오늘이면 「NOW HH:MM」 붉은 캡션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가로 스크롤과 함께 움직임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시각 09:20 고정 (더미)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(NOW 캡션 8/30 추가)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 채널 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왼쪽 224px, 가로 스크롤 시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번호 · 로고 · 이름, 자사는 「자사」 배지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로고 없으면 이니셜 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편성 블록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행 위, 시작–종료 길이만큼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프로그램명(말줄임), 2행 「HH:MM – HH:MM」 + 집계 상태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250ms 뒤 상세 팝업(02-5). 오른쪽 위 「+」로 담기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60px 미만이면 이름만 · 40px 미만이면 이름 말줄임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(담기 아이콘 상시 노출은 8/30)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카테고리 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 테두리·바탕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카테고리 칩이 켜진 프로그램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칩과 같은 고유색 (graph-01~12)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꺼진 카테고리는 회색 테두리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#3)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 ON AIR 배지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 중 블록 이름 앞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조회일이 오늘이고 현재 시각이 블록 안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붉은 칩 「● ON AIR」, 점 깜빡임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후 자동 해제 (더미는 정적)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(8/28-5a)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4px = 1분 고정이라 블록 길이만 보고도 방송 길이를 읽을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02-4 타임라인 본체 ② NOW 선 · 성과 레일 · 일반채널 · 재핑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22 –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schedule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035040" cy="279099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035040" cy="2790999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5909" y="216249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5909" y="21624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078280" y="150111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78280" y="150111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5884" y="304542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5884" y="30454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513473" y="304542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13473" y="30454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967935" cy="914400"/>
        </p:xfrm>
        <a:graphic>
          <a:graphicData uri="http://schemas.openxmlformats.org/drawingml/2006/table">
            <a:tbl>
              <a:tblPr/>
              <a:tblGrid>
                <a:gridCol w="607192"/>
                <a:gridCol w="607192"/>
                <a:gridCol w="717591"/>
                <a:gridCol w="883188"/>
                <a:gridCol w="883188"/>
                <a:gridCol w="827989"/>
                <a:gridCol w="4415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 NOW 세로선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시각 위치, 모든 행 관통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조회일이 오늘일 때만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붉은 2px, 시간축 캡션과 같은 x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스크롤과 함께 이동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날짜면 숨김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(8/30)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 채널 하루 성과 레일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168px,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홈쇼핑 행만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「분UV NN만」 + 하루 스파크라인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일반채널 행은 「편성 정보」만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#9)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 일반채널 레인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홈쇼핑 행 아래, 회색 바탕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일반채널 칩이 1개 이상 켜질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 블록(이름 · 시간), 담기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순서 「번호순」이면 홈쇼핑과 섞여 정렬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 재핑 세로선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일반채널 블록 종료 직전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서버가 임계 이상으로 판정한 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붉은 2px 선, 간격 2px, 최대 3개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「HH:MM 이탈 −N%」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임계(−5%)는 서버 몫 — 화면 토글 없음 (결정 04)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#10, 결정 03)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재핑 선은 굵기 2·간격 2로, 이어져도 개수를 셀 수 있게 했습니다 (KT 「이어져도 합쳐지지 않음」).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02-5 편성 블록 상세 팝업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20 위에 마우스를 올리거나 키보드로 초점을 주면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schedule-p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129352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4129352" cy="448056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6032" y="202184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032" y="202184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986032" y="292647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6032" y="292647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86032" y="363952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6032" y="363952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86032" y="436323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6032" y="436323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0872" y="1280160"/>
          <a:ext cx="6873623" cy="914400"/>
        </p:xfrm>
        <a:graphic>
          <a:graphicData uri="http://schemas.openxmlformats.org/drawingml/2006/table">
            <a:tbl>
              <a:tblPr/>
              <a:tblGrid>
                <a:gridCol w="840109"/>
                <a:gridCol w="840109"/>
                <a:gridCol w="992857"/>
                <a:gridCol w="1221977"/>
                <a:gridCol w="1221977"/>
                <a:gridCol w="1145604"/>
                <a:gridCol w="6109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본체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 위 (아래 공간이 없으면 위)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마우스 올림 250ms 후 / 키보드 초점 즉시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340px 폭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블록에서 벗어나면 120ms 후 닫힘, 팝업 위로 옮겨도 유지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번에 하나만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상품 이미지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맨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16:9 썸네일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없으면 카테고리 색 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제목 · 메타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프로그램명 / 「카테고리 · MM.DD(요일) · HH:MM – HH:MM (N분) · 가격」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가격은 방송 당시 가격 (KT 확인 대기)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지표 4칸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2×2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시청가구(분UV) · 시청가구(10초UV평균) · 콜 수 · 웹 반응수. 값 + 상태 칩(확정/잠정/집계 중)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지표명에 올리면 정의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미집계는 값 「—」 + 「집계 중」 칩. 값 자리에 글자를 쓰지 않음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(10초UV·웹 반응수는 8/28-1·5b, 「—」 통일은 8/30)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동시간대 순위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시간대에 다른 홈쇼핑 편성이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「동시간대 N편 중 N위」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대상 없으면 숨김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#8)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기준 시각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맨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「시청 HH:MM 종료 +4시간 후 반영 · 콜 MM.DD(요일) HH:MM 예정」 등 상태별 문구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확정: 「시청 MM.DD 05:20 기준」, 잠정: 「10초 이상 시청 기준 대체 집계」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(8/20 #11)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 자리는 숫자 아니면 「—」만 두고, 상태는 옆 칩이 말합니다. 같은 뜻을 두 번 쓰지 않습니다.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02-6 리스트 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13에서 「리스트」 선택 시 · 검색어가 있으면 자동 권장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gen/schedule-list-0-60-1825-9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937760" cy="25162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4937760" cy="2516228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922" y="133276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3922" y="13327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3922" y="161686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3922" y="16168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405905" y="161686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5905" y="16168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20081" y="216610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0081" y="216610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402665" y="133276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02665" y="13327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6065215" cy="914400"/>
        </p:xfrm>
        <a:graphic>
          <a:graphicData uri="http://schemas.openxmlformats.org/drawingml/2006/table">
            <a:tbl>
              <a:tblPr/>
              <a:tblGrid>
                <a:gridCol w="741304"/>
                <a:gridCol w="741304"/>
                <a:gridCol w="876087"/>
                <a:gridCol w="1078260"/>
                <a:gridCol w="1078260"/>
                <a:gridCol w="1010869"/>
                <a:gridCol w="5391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시간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프로그램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일반채널이 1개 이상 켜질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「HH:00」 + 채널별 「채널 · 프로그램 · 시간 · 재핑 + 세로선」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재핑은 종료 직전 1~3분 후보, 선 개수로 표시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(8/27-1)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 재핑 표시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줄 안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 판정 분이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붉은 「재핑」 + 세로선 1~3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시각·감소율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없으면 채널 항목에 표시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(8/27-1)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프로그램 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줄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썸네일 · 날짜 · 채널 · 시간 · 카테고리 칩 · 프로그램명 · 가격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어디든 올리면 상세 팝업(02-5)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 전체가 날짜순으로 이어짐 (하루 단위 아님)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ON AIR 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리스트 첫 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조회일이 오늘이고 방송 중인 프로그램이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「● ON AIR」 배지, 첫 행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타임라인과 같은 배지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(8/28-5a)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지표 박스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시청가구(분UV) · 콜, 미집계는 「집계 중」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반응수는 팝업에서만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담기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맨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「+ 담기」 보라 버튼, 담긴 행은 「담김」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바구니 토글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5개 초과 시 토스트 「분석 바구니는 최대 5개입니다」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리스트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결과가 페이지 크기를 넘을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번호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340행(17채널×20편) 노출 방식은 KT 확인 대기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리스트는 「여러 날에 흩어진 결과를 모아 보는」 용도라 검색어가 있을 때만 기본이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02-7 분석 바구니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26 · 27 — 화면 하단 고정 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schedule-bas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7295" cy="4795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1277295" cy="479507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8654" y="143090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8654" y="143090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9612022" y="143682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12022" y="143682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97011" y="143090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97011" y="143090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88267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바구니 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하단 고정, 좌우 여백 48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(0개여도)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흰 바탕, 위쪽 그림자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스크롤과 무관하게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분석 화면과 담은 목록 공유 (브라우저 저장소)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 담은 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왼쪽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「분석 바구니 N / 5」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상한 5 = 편성표 5 + 상세 5 = 총 10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(상한은 8/27-2로 9→5)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항목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수 옆, 가로 나열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것이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「프로그램명 MM.DD(요일) ⓧ」, 이름 말줄임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ⓧ 로 빼기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이름은 날짜로 구분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 비교 보기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것이 1개 이상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카드 위에 「담은 편성 비교」 시트를 엶 (02-8)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0개면 비활성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 전체 비우기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것이 1개 이상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전부 뺌 (확인창 없음)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0개면 비활성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 분석하기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맨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보라 채움 버튼 (h48)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담은 프로그램 + 선택 일반채널을 상세 분석으로 넘김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0개면 토스트 「분석할 편성을 먼저 담아 주세요」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 좌우 여백을 본문 카드와 같은 48px로 맞춰 아래 고정 바가 화면 격자에서 튀지 않게 했습니다 (8/30).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02-8 담은 편성 비교 시트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27 「비교 보기」 → 결과 카드 위에 붙는 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gen/schedule-compare-0-10-1825-3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066165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0661650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1672" y="131648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1672" y="131648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89472" y="178384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89472" y="17838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57872" y="207594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57872" y="20759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711180" y="131648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11180" y="131648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제목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헤더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열림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「담은 편성 비교 · N건 · 막대 = 최대 대비」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스크롤 시 헤더 아래 고정(sticky)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열 머리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 1행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· 프로그램명 · 카테고리 · 방송일 · 시작 · 종료 · 가격 · 시청가구(10초UV평균) · 시청가구(분UV) · 콜반응고객수 · 웹반응고객수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머리를 누르면 정렬 (↕ → ↓ → ↑)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정렬 시청가구(분UV) 내림차순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(10초UV·웹 열은 8/28-1·5b)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값 + 막대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숫자 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 아래 보라 막대, 열 최대값 대비 길이. 열 최대값은 보라 굵은 글씨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미집계는 「집계 중」 + 막대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닫기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열림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닫음, 담은 목록은 유지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시트는 결과 카드를 밀어내지 않고 위에 얹혀 열리므로, 닫으면 보던 자리로 그대로 돌아갑니다.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편성표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02-9 편성표 상태 · 표기 규칙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전체에 같은 규칙으로 적용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1611042"/>
                <a:gridCol w="4296112"/>
                <a:gridCol w="53701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위치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집계 상태 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확정(초록) · 잠정(주황) · 집계 중(회색, 회전 아이콘). 값이 없으면 값 자리는 「—」, 상태는 칩만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 2행 · 팝업 지표 · 리스트 지표 · 비교 시트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 값 확정 시점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+4시간 후 반영, 다음날 05:20 확정. 잠정은 「10초 이상 시청 기준 대체 집계」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기준 시각 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콜 값 확정 시점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 2일 뒤(일) 08:00 예정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기준 시각 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숫자 표기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천 단위 콤마, 만 단위 요약은 레일에서만(「46만」), 가격은 「NN,NNN원」·렌탈은 「월 NN,NNN원」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 표기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24시간 「HH:MM」, 날짜 「MM.DD(요일)」, 시간대 「HH:MM – HH:MM」 (en dash)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시각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시각 06.19(금) 09:20 (더미). NOW 선·캡션·ON AIR·미니맵 선은 조회일이 오늘일 때만. NOW 버튼은 다른 날짜에서도 유지(오늘 복귀용, 8/31)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 · 헤더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카테고리 색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12종 고유색 (graph 토큰) 고정, 칩과 블록이 같은 색. 꺼진 카테고리는 회색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 · 블록 · 리스트 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기간 31일 · 바구니 5개 · 재핑 선 최대 3개 · 홈쇼핑사 17 · 일반채널 14 · 카테고리 12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조건 · 바구니 · 재핑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 상태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0건: 「조건에 맞는 편성이 없습니다」 / 바구니 0개: 버튼 비활성 / 채널 로고 없음: 이니셜 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· 바구니 · 채널 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툴팁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비활성 사유(「조회 기간의 첫날입니다」 등)·지표 정의·재핑 시각은 올리면 검은 툴팁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스테퍼 · 팝업 · 재핑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색이 아니라 글자(칩)로 먼저 말하고, 색은 거들기만 합니다 — 흑백 인쇄·색약에서도 읽히도록.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94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B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상세 분석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analysis.html — 담은 프로그램 하나를 10개 섹션으로 뜯어보는 화면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분석 — 화면 지도 ① 상단 ~ 유입/유출 분단위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1920px 폭 · 원피스 썸머 특집 06.17(수) 10:00–11:00 기준 · 위에서 아래로 스크롤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ma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753845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2753845" cy="502920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20780" y="121380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20780" y="1213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5398" y="131065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5398" y="131065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02589" y="132655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2589" y="132655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272648" y="143786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72648" y="14378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54619" y="152026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4619" y="1520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7575" y="163302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575" y="16330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958204" y="160989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58204" y="160989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7575" y="209560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575" y="209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226736" y="208982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26736" y="208982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77575" y="290513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7575" y="290513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078939" y="341398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78939" y="3413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7575" y="371033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7575" y="371033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7575" y="466441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7575" y="46644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77575" y="544503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7575" y="544503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531085" y="1280160"/>
            <a:ext cx="401026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GNB · 데이터 기준 시각 (06.17(수) 14:54 기준)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뒤로 가기 · 프로그램 제목 · 회사/일반채널 배지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 요약 카드 4 (일자 · 시간 · 가격 · 카테고리)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대상 칩 (편성표 담기 + 상세 담기, 최대 10)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앵커 바 10개 (스크롤 추적 · 고정)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지표 8카드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 저장 버튼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632790" y="1280160"/>
            <a:ext cx="401026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시청/콜/유입/재핑 통합 분석 차트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 (성과 4 + 유입 8, 개별 켜고 끄기)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재핑 — 일반채널 4개 분 단위 유입 띠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채널별 「우리채널 총 유입수」 카드 4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체류시간 · 반복시청 분포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지속시청가구수 분단위 상세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유입/유출 채널별 분단위 상세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분석 — 화면 지도 ② 순유입 ~ 1개월 편성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지도 ①에서 이어지는 하단 5개 섹션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ma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959398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2959398" cy="502920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270" y="121886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6270" y="121886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36270" y="205518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270" y="2055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36270" y="264125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270" y="264125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6270" y="361803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6270" y="361803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36270" y="513082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6270" y="513082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108285" y="517441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8285" y="51744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736638" y="1280160"/>
            <a:ext cx="3907489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유입/유출 및 순유입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채널/프로그램별 유입유출 상세 표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나이대/성별 분포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35566" y="1280160"/>
            <a:ext cx="3907489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동일시간대 17개사 편성 성과 표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1개월 동일 공통카테고리 편성 성과 (히트맵)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 성과 / 타사 포함 전환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 상단 헤더 · 분석 대상 · 앵커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 – 5 · 모두 스크롤해도 위에 고정되는 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7295" cy="15865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1277295" cy="1586517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7051" y="174465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7051" y="1744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9582422" y="180977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2422" y="180977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36170" y="226560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36170" y="22656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33805" y="260303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3805" y="260303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95277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 제목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왼쪽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← · 프로그램명 · 회사 배지 · 「일반채널 KBS1, KBS2, MBC, SBS」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← 는 편성표로 복귀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일반채널 배지는 편성표에서 켠 채널 그대로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 편성 요약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편성일자 · 편성 시간 · 가격 · 카테고리 4카드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선택한 프로그램에 따라 갱신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 분석 대상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 아래 한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편성표에서 담은 것 ┃ 상세에서 담은 것(ⓧ) 순서, 활성 칩은 보라 테두리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칩을 누르면 그 프로그램으로 전환(새로 그림), ⓧ 로 빼기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상한 자사 5 + 타사 5 = 10. 넘치면 양옆 ‹ › 스크롤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(타사 담기 8/27-6 · ‹ › 8/29-8)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 앵커 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 대상 아래,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섹션 이름 10개, 보는 섹션에 밑줄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해당 섹션으로 스크롤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스크롤 위치를 따라 활성이 바뀜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GNB · 분석 대상 · 앵커 세 층이 함께 고정되어, 화면 어디서든 프로그램 전환과 섹션 이동이 한 번에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03-2 주요 지표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6 · 7 — 방송 1시간의 결과를 8칸으로 요약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7295" cy="19195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1277295" cy="191954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2043" y="153957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2043" y="153957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43676" y="153957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43676" y="153957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61462" y="153957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61462" y="153957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960791" y="153957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0791" y="153957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2043" y="238244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043" y="238244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343676" y="238244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43676" y="238244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61462" y="238244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61462" y="238244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960791" y="238244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0791" y="238244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830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전체 시청자수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1칸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259,978 · 「방송 기준」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미집계면 「—」 + 집계 중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전체 콜 수 · 웹 반응수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2칸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콜 6,740(10:56 최대 239콜) ㅣ 웹 11,514(모바일 웹 유입)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카드 안 세로 구분선으로 병기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(웹 반응수 8/28-5)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c·d 분평균 · 분최고 시청자수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3–4칸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29,464(전날 +6.4% / 전주 +9.4%) · 32,591(10:51 도달)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증감은 +/− 부호와 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e·f 분최고 유입자수 · 최고 유입 채널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2행 1–2칸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3,032(10:46 유입) · KBS1(1,550명)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 데이터 없으면 「—」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g·h 가망 고객 비율 · 1분 이상 체류 비율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2행 3–4칸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28.4% / 41.7%(시청·콜 각각) · 77.0%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분모가 0이면 「—」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 리포트 저장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섹션 제목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보라 채움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전체를 리포트로 저장 (더미: 토스트)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생성은 서버 몫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03-3 통합 분석 ① 차트 본체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8 — 시청 · 콜 · 유입 · 웹반응을 분 단위 한 판에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int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883962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883962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27486" y="127558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27486" y="12755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93051" y="127558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93051" y="12755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727486" y="237221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7486" y="237221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성과 4지표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 본체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범례가 켜져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시청자수 · 1분 이상 시청자수 라인(좌축), 콜수 · 웹반응수 막대(우축)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해당 분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웹반응은 콜 위에 쌓는 누적 막대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(웹반응 8/28-5)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유입 8채널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하단 보조 지표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범례가 켜져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KBS1 · KBS2 · SBS · MBC · EBS · TV조선 · JTBC · MBN 라인 8개, 채널 고유색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툴팁에 채널별 유입값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낮은 값 대역이라 하단에 몰림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(8/28-7, 채널명 확정 8/31)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좌 · 우 ·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좌 시청자수(k 요약) · 우 콜수 · 가로 방송 시간 분 단위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 시간 10:00–11:00 = 60분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 채널은 방송사 순서(KBS1 → MBN)를 범례·툴팁 모두에서 고정합니다 — 어디를 봐도 같은 순서로 읽히도록.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03-3 통합 분석 ② 범례와 툴팁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9 — 지표를 하나씩 켜고 끄는 조작부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int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883962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883962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93051" y="127558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93051" y="12755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 범례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 오른쪽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「프로그램 성과」 시청자수 · 1분 이상 · 콜수 · 웹반응수 각각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칩을 누르면 그 지표만 켜고 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끈 칩은 흐려짐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(8/28-2 · 콜/웹 분리 8/28-7)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유입 범례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 범례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「유입 시청자수」 + 채널 8칩, 방송사 순서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채널별 개별 켜고 끄기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끈 채널은 라인·툴팁 줄 모두 숨김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(8/28-7)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마우스 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 위에 올릴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「HH:MM」 + 켜진 지표 전부, 유입 8줄 포함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마우스를 따라 이동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 순서는 범례와 같음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(유입 줄 추가 8/28-7)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 12개를 다 켜면 읽기 어려우므로, 범례 토글이 「보고 싶은 조합만 남기는」 기본 조작입니다.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03-4 재핑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10 · 11 — 일반채널에서 우리 방송으로 넘어온 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28737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7287370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6011" y="14686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6011" y="14686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540168" y="14686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40168" y="14686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16029" y="264142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16029" y="264142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채널 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채널당 한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선택한 일반채널만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KBS1 · KBS2 · MBC · SBS, 방송 60분을 분 칸으로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편성표에서 켠 채널 그대로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유입 배지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띠 위 해당 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유입이 임계 이상인 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유입수 숫자 칩, 값이 클수록 진한 붉은색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연속되면 나란히 이어 붙음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합계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띠 아래 2×2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채널별 「우리채널 총 유입수」 (KBS1 3,930 등)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 없으면 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통합 차트의 유입 라인이 「흐름」이라면, 이 띠는 「어느 분에 얼마나」를 세는 화면입니다.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03-5 체류시간 · 반복시청 분포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12 — 들어온 가구가 얼마나 머물고 다시 오는지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st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949103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5949103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86905" y="152744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86905" y="152744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75450" y="155989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75450" y="15598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670183" y="130350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70183" y="13035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체류시간 분포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왼쪽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10초~10분 이상 15구간, 보라 = 시청 체류 · 주황 = 시청부터 콜까지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구간 값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 수 15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반복시청가구수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도넛 + 1회 · 2회 · 3회 · 4회 이상 목록 (가구수 · %)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1회가 대부분(95.1%)이라 목록으로 소수 구간을 보완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범례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섹션 제목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「시청 체류 분포」 「시청부터 콜까지」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계열 켜고 끄기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03-6 지속시청가구수 분단위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13 — 1 · 2 · 3 · 5 · 10분 이상 남은 가구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c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356906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7356906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59701" y="229423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59701" y="229423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769212" y="133097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9212" y="1330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라인 5종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 본체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범례가 켜져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1분(보라) · 2분(파랑) · 3분(청록) · 5분(주황) · 10분(분홍) 이상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분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위에서 아래로 포개진 순서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범례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 칩 5개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개별 켜고 끄기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 간 간격이 「어느 구간에서 이탈이 큰지」를 그대로 보여 줍니다 — 1분과 2분 사이가 가장 넓으면 초반 이탈형.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03-7 유입/유출 채널별 분단위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14 — 채널별 흐름을 유입 · 유출 두 판으로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fc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58518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958518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31707" y="17019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1707" y="17019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48328" y="170190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48328" y="17019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일반채널 유입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왼쪽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4 라인, 파랑·보라 계열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분 툴팁, 범례로 채널 켜고 끄기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선택한 일반채널만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일반채널 유출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4 라인, 붉은 계열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왼쪽과 같음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유입과 축 최대값이 달라 눈금이 다름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온도로 방향을 나눴습니다 — 차가운 색은 들어옴, 붉은 색은 나감. 아래 순유입 차트도 같은 규칙입니다.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03-8 전체 유입/유출 및 순유입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15 — 채널을 합친 총량과 그 차이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648847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7648847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19586" y="192154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19586" y="192154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019586" y="254747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19586" y="254747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89472" y="200500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9472" y="200500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399601" y="133734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99601" y="133734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전체 유입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0선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 단위 보라 막대 (양수)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분 툴팁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전체 유출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0선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 단위 붉은 막대 (음수)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위와 같음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축이 ±대칭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순유입 라인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막대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 − 유출, 보라 라인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음수 구간도 그대로 지나감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범례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유입 · 전체 유출 · 순유입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개별 켜고 끄기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(8/28-2)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03-9 채널/프로그램별 유입유출 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16 — 어느 프로그램에서 오갔는지 집계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fd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04590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11045900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563" y="210448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563" y="210448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64458" y="210448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4458" y="210448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784057" y="186343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84057" y="186343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채널 구분 · 채널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1–2열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「일반채널」 배지 + 채널명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선택한 일반채널만 행이 생김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프로그램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시간대 그 채널의 프로그램명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유입 · 유출 · 순유입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4–6열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 보라 · 유출 붉은색 · 순유입 「+N」 파랑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순유입 음수면 −표기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차트(03-7 · 03-8)가 흐름을, 이 표가 「정산」을 맡습니다 — 숫자 인용은 여기서.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03-10 고객 나이대/성별 분포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17 — 본 사람과 산 사람이 같은 얼굴인지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c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361417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361417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78605" y="158689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78605" y="158689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067345" y="158689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67345" y="158689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455" y="184717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455" y="184717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시청 고객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왼쪽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total 58,080 · 실시간 시청자 기준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콜 고객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total 5,208 · 방송 중 인입 콜 기준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요약 3칸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카드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남성 % · 여성 % · 주 연령대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 연령대 = 가장 큰 막대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연령대 막대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본체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20대~70대+ 6구간, 남(하늘) · 여(분홍) 누적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구간 값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카드의 축은 각자 최대 기준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시청은 여성 60.5% · 콜은 여성 70.2% — 좌우를 같은 구성으로 붙여 「보는 층과 사는 층의 차이」가 한눈에 나옵니다.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03-11 동일시간대 17개사 편성 성과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18 — 같은 시간, 다른 회사는 무엇을 틀었나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t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035040" cy="29895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6035040" cy="2989534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716" y="137456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716" y="137456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0867" y="151613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67" y="151613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21771" y="167088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1771" y="16708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27642" y="151613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7642" y="151613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967935" cy="914400"/>
        </p:xfrm>
        <a:graphic>
          <a:graphicData uri="http://schemas.openxmlformats.org/drawingml/2006/table">
            <a:tbl>
              <a:tblPr/>
              <a:tblGrid>
                <a:gridCol w="607192"/>
                <a:gridCol w="607192"/>
                <a:gridCol w="717591"/>
                <a:gridCol w="883188"/>
                <a:gridCol w="883188"/>
                <a:gridCol w="827989"/>
                <a:gridCol w="4415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열 구성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 머리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홈쇼핑사명 · 방송시간 · 카테고리 · 프로그램명 · 상품명 · 가격 · 프로그램 시청자수 · 시청자수(10초UV평균) · 콜 수 · 웹 반응 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10초UV · 웹 반응 열 포함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(10초UV 8/28-1 · 웹 8/28-5)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자사 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첫 행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KT알파 쇼핑, 담기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분석 중인 프로그램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담기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상품명 옆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타사 행만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「담기 +」 작은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분석 대상에 추가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담기 상한 5 (총 10). 초과 시 토스트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(8/27-2 · 8/27-6)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지표 4열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시청자수 보라 · 콜 수 붉은색 · 웹 검정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미집계는 「—」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17개사 전부를 한 표로 — 정렬 없이 채널 번호 순 고정이라, 회사 위치가 늘 같은 자리에 옵니다.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03-12 최근 1개월 카테고리 편성 히트맵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19 · 20 — 같은 카테고리를 요일×시간대 격자로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570837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5570837" cy="210312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6784" y="130719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6784" y="13071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44488" y="134366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44488" y="13436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441581" y="171748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41581" y="171748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88155" y="172356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8155" y="172356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0999" y="312463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999" y="3124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119001" y="3139828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19001" y="31398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914400"/>
        </p:xfrm>
        <a:graphic>
          <a:graphicData uri="http://schemas.openxmlformats.org/drawingml/2006/table">
            <a:tbl>
              <a:tblPr/>
              <a:tblGrid>
                <a:gridCol w="1378336"/>
                <a:gridCol w="1378336"/>
                <a:gridCol w="1628943"/>
                <a:gridCol w="2004852"/>
                <a:gridCol w="2004852"/>
                <a:gridCol w="1879549"/>
                <a:gridCol w="1002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제목 · 기간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「2026-05-17 ~ 2026-06-17 · 패션의 요일·시간대별 평균 성과」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 = 최근 1개월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(통합안 8/25)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전환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「자사 성과」 / 「타사 포함」 두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격자 값이 그 기준으로 다시 계산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탭을 나누지 않고 한 격자에서 전환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(8/27-6)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성과 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격자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요일·시간대에 편성이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 시청(보라 농도) · 아래 콜(붉은 농도) 두 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팝오버(03-13), 누르면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값은 동일 요일·시간대 평균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빈 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격자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「-」 점선 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e·f 범례 · 도움말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 5단 · 콜 5단 · 편성 없음 ㅣ 「칸을 누르면 호버창이 고정돼 편성을 담을 수 있습니다」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요일 7 × 시간 16(08–23시) 격자. 색 농도는 시청·콜 각각 5단계로, 두 지표를 한 칸에서 같이 읽습니다.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03-13 히트맵 호버 팝오버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19의 성과 칸에 올리거나 눌러 고정하면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analysis-heatp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030804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5030804" cy="448056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05661" y="254604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05661" y="254604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05661" y="359150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5661" y="35915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91321" y="314345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91321" y="314345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48937" y="541517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48937" y="541517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2324" y="1280160"/>
          <a:ext cx="5972171" cy="914400"/>
        </p:xfrm>
        <a:graphic>
          <a:graphicData uri="http://schemas.openxmlformats.org/drawingml/2006/table">
            <a:tbl>
              <a:tblPr/>
              <a:tblGrid>
                <a:gridCol w="729932"/>
                <a:gridCol w="729932"/>
                <a:gridCol w="862647"/>
                <a:gridCol w="1061719"/>
                <a:gridCol w="1061719"/>
                <a:gridCol w="995362"/>
                <a:gridCol w="5308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팝오버 본체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칸 옆 400px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올리면 표시, 누르면 고정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+ 편성 리스트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밖을 누르면 고정 해제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밖으로 나가면 위치 반전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(8/25 · 8/27-6)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헤더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맨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「요일 HH:MM」 · 「N회 편성 평균」 · 시청/콜/웹 평균 3값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 = 리스트 수와 항상 일치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(8/27-6, 웹 8/28-5)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편성 리스트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회당 한 줄: 썸네일 · 프로그램명 · 「회사 · MM.DD(요일) HH:MM · 가격」 · 시청/콜/웹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5줄 높이, 그 아래는 스크롤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목록 15회 (자사·타사 탭 공통)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(8/31)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담기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「+」, 담긴 편성은 체크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분석 대상에 추가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상한 5 초과 시 토스트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(8/27-6)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꼬리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맨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「성과: 시청 · 콜」 기준 안내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격자 값(평균)과 낱개 편성(리스트)을 한 카드에 — 평균이 어떤 회차들로 만들어졌는지 그 자리에서 검증됩니다.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프로그램 상세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03-14 상세 분석 상태 · 표기 규칙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섹션에 같은 규칙으로 적용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1611042"/>
                <a:gridCol w="4296112"/>
                <a:gridCol w="53701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위치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 대상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편성표 5 + 상세 5 = 최대 10. 편성표 담기는 ⓧ 없음, 상세 담기만 ⓧ 로 뺄 수 있음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 대상 칩 · 담기 버튼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축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 시간(HH:MM–HH:MM)을 분 단위 60포인트로. 모든 분단위 차트가 같은 축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 · 지속시청 · 유입/유출 · 순유입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 채널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8개 고정, 방송사 순서 KBS1 · KBS2 · SBS · MBC · EBS · TV조선 · JTBC · MBN. 범례·툴팁 순서 동일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 분석 (8/28-7 · 8/31)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범례 토글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차트 범례 칩은 누르면 그 계열만 켜고 끔. 끈 칩은 흐리게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 · 체류 · 지속시청 · 유입/유출 · 순유입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 방향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유입·시청 = 보라/파랑 계열, 유출·콜 = 붉은 계열. 순유입 +파랑 / −붉은색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유입/유출 · 순유입 · 상세 표 · 히트맵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숫자 표기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천 단위 콤마, 축은 k 요약, 비율 소수 1자리, 가격 「NN,NNN원」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집계 상태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편성표와 동일 — 값 없으면 「—」, 상태는 칩. 확정/잠정/집계 중 기준 시각도 동일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지표 · 17개사 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히트맵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격자 = 동일 요일·시간대 평균, 색 농도 시청·콜 각 5단. 팝오버 리스트 15회 · 5줄 높이 스크롤 · 헤더 「N회 편성 평균」의 N = 리스트 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1개월 편성 (8/31)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 상태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 없는 칸 「-」 · 유입 데이터 없는 채널 라인 0 수평 · 담을 수 없는 행은 버튼 숨김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히트맵 · 통합 · 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 대상 10 · 상세 담기 5 · 유입 채널 8 · 팝오버 리스트 15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담기 · 통합 · 히트맵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편성표(02-9)의 상태·숫자·시각 규칙을 그대로 물려받고, 이 장은 상세 분석에만 있는 규칙을 더합니다.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694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B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현황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realtime.html — 지금 방송 중인 자사 프로그램과 인접 채널의 유입·유출을 한 화면에서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실시간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현황 — 화면 지도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1920px 폭 · 기준 시각 06.12(금) 10:44 · 위 보라 영역 3패널 + 아래 차트 카드 (1초 단위 갱신)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realtim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84405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5284405" cy="502920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2598" y="126197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2598" y="126197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301716" y="174186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01716" y="17418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932808" y="1789026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32808" y="178902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80407" y="194714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0407" y="19471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293394" y="310943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93394" y="31094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988287" y="310943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8287" y="31094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80407" y="3109434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0407" y="31094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293394" y="444371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3394" y="444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988287" y="444371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88287" y="444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80407" y="444371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0407" y="444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61645" y="1280160"/>
            <a:ext cx="274498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GNB · 데이터 기준 시각 (06.12(금) 10:44:00, 초 단위)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10분전 대비 — 시청률 · 선택 채널 시청 가구 · 현재 접속 가구 (값 + 증감)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홈쇼핑 Top3 · 시청률순 (순위 · 회사 · 채널 · 방송 중 프로그램)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인접채널 편성표 — 예상 재핑시간 · 실시간 재핑 알람 (04-1 ~ 04-4)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시청가구 변화추이 (오늘 · 어제 · 전주)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898070" y="1280160"/>
            <a:ext cx="274498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시청률 Top6 변화 추이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유입/유출 현황 (최근 1시간, 흐름도)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시청가구 변화 추이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유입가구 채널 Top6 변화 추이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홈쇼핑사 시청가구 변화추이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실시간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04-1 인접채널 편성표 ① 헤더 · 실시간 알람 스트립 · 열 제목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4 — 자사 방송 중 인접 4개 채널이 언제 끝나고, 시청자가 언제 넘어올지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realtime-adja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937760" cy="313106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4937760" cy="3131063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7324" y="141568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7324" y="141568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797364" y="141568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7364" y="141568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49473" y="141568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49473" y="141568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89030" y="141568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9030" y="141568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808177" y="192254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08177" y="192254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808177" y="2233195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08177" y="223319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6065215" cy="914400"/>
        </p:xfrm>
        <a:graphic>
          <a:graphicData uri="http://schemas.openxmlformats.org/drawingml/2006/table">
            <a:tbl>
              <a:tblPr/>
              <a:tblGrid>
                <a:gridCol w="741304"/>
                <a:gridCol w="741304"/>
                <a:gridCol w="876087"/>
                <a:gridCol w="1078260"/>
                <a:gridCol w="1078260"/>
                <a:gridCol w="1010869"/>
                <a:gridCol w="5391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제목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패널 왼쪽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「인접채널 편성표」 22px, 다른 두 패널과 같은 밑줄(184px)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 26-09-08)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기준 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 줄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「1주 전 기록 기반」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재핑시간의 근거를 한 줄로 밝힘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알람 상태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표기 옆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「알람 ON」(종 아이콘) / 「알람 OFF」(줄 그은 종)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커스터마이징 팝업 「알람 설정」 탭으로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OFF 면 실시간 재핑 열이 「알람 OFF」로 바뀜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 설정(톱니)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맨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28px 아이콘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누르면 커스터마이징 팝업 「인접채널」 탭으로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 실시간 알람 스트립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아래 한 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(내용만 바뀜)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대기: 「타 채널 알람 ┃ 관심 채널 재핑 감지 대기 · 인접 제외 N개 채널」 / 감지: 「실제 감지 ┃ 채널명 ch.NN −N.N% HH:MM」 + 노출 잔여 진행선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2건 이상이면 「외 N건」 버튼 → 「타 채널 실제 재핑」 팝업(04-4)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인접 4개가 아닌 관심 채널의 감지만 여기에. 알람 OFF 면 「알람 OFF · 관심 채널 재핑 알림을 받지 않습니다」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열 제목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스트립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· 프로그램 · 방송시간 · 예상 재핑시간 · 실시간 재핑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인접채널은 자사 채널과 리모컨 번호가 가까운 4개(기본 KBS1 · MBC · 채널A · TV조선)로, 팝업에서 바꿀 수 있습니다. 알람 대상(관심 채널)은 인접 4개와 별도로 최대 10개까지.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실시간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04-2 인접채널 편성표 ② 채널 행 4개 · 예상 재핑시간 · 실시간 재핑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4 — 한 행 = 채널 하나. 왼쪽 세로선은 가장 가까운 예상 시점의 채널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realtime-adjacent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937760" cy="313106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4937760" cy="3131063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4476" y="248662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4476" y="248662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43515" y="248662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43515" y="248662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816352" y="2486623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16352" y="248662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86130" y="2674650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86130" y="267465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14874" y="256019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4874" y="25601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320309" y="421156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20309" y="42115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876477" y="421156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477" y="42115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6065215" cy="914400"/>
        </p:xfrm>
        <a:graphic>
          <a:graphicData uri="http://schemas.openxmlformats.org/drawingml/2006/table">
            <a:tbl>
              <a:tblPr/>
              <a:tblGrid>
                <a:gridCol w="741304"/>
                <a:gridCol w="741304"/>
                <a:gridCol w="876087"/>
                <a:gridCol w="1078260"/>
                <a:gridCol w="1078260"/>
                <a:gridCol w="1010869"/>
                <a:gridCol w="5391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 채널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채널명 18px Bold + 「ch.NN」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행을 누르면 상세 팝업(04-4)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 가까운 예상 행에 왼쪽 민트 세로선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 프로그램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프로그램명 16px + 「HH:MM–HH:MM」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없으면 「방송 정보 없음」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 예상 재핑시간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3열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자사 방송 구간 안에 예상이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「HH:MM」 22px Bold + 「N분 후」 / 현재 분은 「지금」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 전 같은 시간대 기록 중 기준(−5%) 이하인 분. 없으면 「기준에 맞는 예상 없음」 / 「기록 없음」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 후속 예상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3열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뒤에 더 있을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「이후 HH:MM · HH:MM」 최대 3개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지난 분은 빠지고 다음 후보가 대표로 (분 단위 갱신)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 실시간 재핑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「감지 대기」 칩 / 감지 시 「−N.N% 감지 · HH:MM · N초」 + 진행선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노출 시간(10초) 뒤 대기로. OFF 면 「알람 OFF」, 관심에서 뺀 채널은 「수신 제외」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 기준 요약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푸터 왼쪽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「06.05(금) 기록 · −5% 이하 · 알람 10초 · 관심 10개」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바꾸면 즉시 갱신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 시계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푸터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「● 시연 HH:MM:SS」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목업용 시연 시계. 실제 구현은 서버 시각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예상은 「1주 전 같은 시간대의 분 단위 재핑률」이 기준 이하로 떨어진 분을 그대로 옮긴 것이고, 실시간 재핑은 지금 감지된 값입니다 — 둘은 열을 나눠 섞이지 않게 합니다.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실시간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04-3 커스터마이징 팝업 — 인접채널 · 관심 채널 · 알람 설정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c · d 에서 열림 · 514px 팝업, 탭 3개, 브라우저 저장소에 저장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realtime-pop-setting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478004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3478004" cy="448056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6334" y="2024461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6334" y="20244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04058" y="327456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04058" y="327456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66334" y="512495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6334" y="512495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32350" y="512495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32350" y="512495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9524" y="1280160"/>
          <a:ext cx="7524971" cy="914400"/>
        </p:xfrm>
        <a:graphic>
          <a:graphicData uri="http://schemas.openxmlformats.org/drawingml/2006/table">
            <a:tbl>
              <a:tblPr/>
              <a:tblGrid>
                <a:gridCol w="919719"/>
                <a:gridCol w="919719"/>
                <a:gridCol w="1086940"/>
                <a:gridCol w="1337773"/>
                <a:gridCol w="1337773"/>
                <a:gridCol w="1254162"/>
                <a:gridCol w="6688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 탭 「인접채널」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상단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편성표에 표시할 4개 선택, 「N / 4개 선택」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 카드 체크로 토글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4개를 넘거나 모자라면 「적용」 잠김 + 붉은 안내. 자사 채널은 목록에 없음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 탭 「관심 채널」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상단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알람을 받을 채널, 「N개 채널 선택」 + 전체 선택 · 전체 해제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체크로 토글. 인접채널인 카드에는 보라 「인접」 배지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0개면 「관심 채널이 없어 실시간 알람을 받지 않습니다」 주황 안내. 알람 OFF 면 「재핑 알람이 OFF입니다」 안내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 탭 「알람 설정」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상단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재핑 알람 토글(34×20) · 「재핑 증감률」 −50 ~ −1% (기본 −5) · 「실시간 재핑 노출 시간」 1 ~ 60초 (기본 10)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토글 아래 한 줄 요약 「알람 ON · 선택한 관심 채널 N개에서 실시간 재핑을 받습니다」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범위 밖 값은 붉은 안내 + 「적용」 잠김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 채널 카드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탭 본문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인접채널 · 관심 채널 탭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2열 카드, 체크(20px) + 채널명 14px Bold + 「ch.NN」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전체가 누르는 영역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카드는 파란 테두리 + 연파랑 바탕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 · 스타일은 DS 체크박스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 기본값 불러오기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푸터 왼쪽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34px 회색 버튼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 탭 값을 기본값으로 되돌림 (아직 저장 안 됨)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 취소 · 적용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푸터 오른쪽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「취소」 연파랑 48px · 「적용」 보라 48px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= 검증 → 저장(localStorage) → 패널 즉시 갱신 → 토스트 「편성표 설정을 저장했습니다」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저장소를 못 쓰는 브라우저면 「이 브라우저에서는 새로고침 후 저장이 유지되지 않습니다」 토스트. ESC · 바깥 클릭 = 취소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 3종은 DS 팝업 규격(514 · r26 · 여백 36/40)과 DS 버튼·탭·체크박스·토글·입력을 그대로 씁니다. 바탕만 흰색 — 입력·소형 버튼이 gray100 이라 같은 색 위에 얹으면 사라지기 때문.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실시간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04-4 프로그램 · 예상 재핑 팝업 / 타 채널 실제 재핑 팝업 / 토스트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g (행 클릭) · 핀 e 「외 N건」 에서 열림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pic>
        <p:nvPicPr>
          <p:cNvPr id="8" name="Image 0" descr="/Users/willji/Desktop/kt-homeshopping-admin/_docs/spec/img/realtime-pop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510010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80160"/>
            <a:ext cx="5510010" cy="4480560"/>
          </a:xfrm>
          <a:prstGeom prst="rect">
            <a:avLst/>
          </a:prstGeom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27901" y="2346947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27901" y="234694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308330" y="4111719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08330" y="411171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308330" y="4896062"/>
            <a:ext cx="219456" cy="219456"/>
          </a:xfrm>
          <a:prstGeom prst="ellipse">
            <a:avLst/>
          </a:prstGeom>
          <a:solidFill>
            <a:srgbClr val="694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08330" y="489606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1530" y="1280160"/>
          <a:ext cx="5492965" cy="914400"/>
        </p:xfrm>
        <a:graphic>
          <a:graphicData uri="http://schemas.openxmlformats.org/drawingml/2006/table">
            <a:tbl>
              <a:tblPr/>
              <a:tblGrid>
                <a:gridCol w="671362"/>
                <a:gridCol w="671362"/>
                <a:gridCol w="793428"/>
                <a:gridCol w="976527"/>
                <a:gridCol w="976527"/>
                <a:gridCol w="915494"/>
                <a:gridCol w="488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조건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값·표기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상태·예외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 프로그램 정보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「ch.NN · 채널명」 · 프로그램명 20px Bold · 「방송시간 HH:MM–HH:MM」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없으면 「방송 정보 없음」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 예상 시점 목록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구분선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「현재 자사 방송 구간의 예상 재핑 · HH:MM–HH:MM」 + 시각 배지: 다음 = 보라, 지난 것 = 회색 취소선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열린 채로도 분 단위 갱신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없으면 「기준에 맞는 예상 없음」 / 「기록 없음」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 설명 3줄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팝업 아래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기준일 · 기준 증감률 · 「현재 분을 끝까지 표시」 · 「예상 도달은 실제 감지 알림이 아님」 12px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기준값은 알람 설정을 따라감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 채널 실제 재핑 팝업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스트립 「외 N건」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감지 2건 이상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행마다 채널명 · ch.NN · 감지 시각 · −N.N%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노출 끝난 행은 빠짐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모두 끝나면 「현재 표시 중인 실제 재핑이 없습니다」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아래 가운데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 · 기본값 때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검정 r8 · 12px 흰 글자, 약 3초 뒤 사라짐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낭독기에도 같은 문구(aria-live)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KT 제공 (개선안)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팝업을 닫으면 초점이 열었던 버튼(행 · 톱니 · 외 N건)으로 돌아갑니다 — 키보드만으로도 설정과 확인이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41FF"/>
          </a:solidFill>
          <a:ln w="12700">
            <a:solidFill>
              <a:srgbClr val="694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실시간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04-5 인접채널 편성표 상태 · 표기 규칙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패널과 팝업에 같은 규칙으로 적용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Shopping Insight 화면·UI·기능 정의서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1611042"/>
                <a:gridCol w="4296112"/>
                <a:gridCol w="53701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위치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인접채널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4개 (자사 제외). 기본 KBS1 · MBC · 채널A · TV조선, 팝업에서 교체. 4개가 아니면 저장 불가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패널 행 · 인접채널 탭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관심 채널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알람 대상, 0 ~ 10개. 인접채널이면 그 행의 「실시간 재핑」 열에, 아니면 스트립에 표시. 인접채널을 관심에서 빼면 그 행은 「수신 제외」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스트립 · 4열 · 관심 채널 탭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재핑시간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 전 같은 요일 · 같은 시간대의 분 단위 재핑 증감률이 기준(기본 −5%) 이하인 분. 자사 방송 구간(예: 10:30–11:30) 안의 것만. 대표 1개 + 이후 최대 3개. 지난 분은 빠지고 다음 후보가 올라옴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3열 · 상세 팝업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재핑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감지 즉시 표시, 노출 시간(1 ~ 60초, 기본 10) 뒤 자동 종료. 같은 채널에 새 감지가 오면 시간을 다시 셈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4열 · 스트립 · 실제 재핑 팝업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알람 ON/OFF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OFF 면 새 감지를 받지 않음(표시 중이던 것은 남은 시간까지). 예상 재핑시간은 ON/OFF 와 무관하게 계속 표시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버튼 · 알람 설정 탭 · 4열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 표기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「HH:MM」 24시간, 「N분 후」 · 「지금」, 감지 시각 「HH:MM」, 잔여 「N초」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패널 · 팝업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증감률 표기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「−N.N%」 (마이너스 기호 U+2212), 기준값은 「−N% 이하」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4열 · 스트립 · 설정 · 설명문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인접채널 · 관심 채널 · 알람 ON/OFF · 증감률 · 노출 시간 5가지를 브라우저 저장소(localStorage, 키 gsi-compact-zapping-settings-v1)에. 실제 구현은 사용자별 서버 저장으로 대체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커스터마이징 팝업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 상태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「기록 없음」(1주 전 기록 자체가 없음) · 「기준에 맞는 예상 없음」(기록은 있으나 기준 이하 분이 없음) · 「방송 정보 없음」 · 「감지 대기」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3열 · 2열 · 4열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시연 요소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목업의 「● 시연 HH:MM:SS」 시계와 감지 이벤트는 시연용(실제 구현 시 서버 시각 · 실시간 이벤트로 대체). 시연 조작 툴바는 화면에서 숨김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D2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푸터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97880"/>
            <a:ext cx="11277295" cy="420624"/>
          </a:xfrm>
          <a:prstGeom prst="rect">
            <a:avLst/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897880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4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  </a:t>
            </a:r>
            <a:pPr indent="0" marL="0">
              <a:buNone/>
            </a:pPr>
            <a:r>
              <a:rPr lang="en-US" sz="950" dirty="0">
                <a:solidFill>
                  <a:srgbClr val="1B1D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패널의 기능·문구·규칙은 KT 개선안(26-09-08 수령)을 그대로 옮긴 것이며, 크기·색·팝업 규격만 이 정의서의 디자인 시스템(부록 A)에 맞췄습니다. 「기록 없음/예상 없음」 문구, 시연 시계 표기, 인접 4개 고정 규칙은 KT 확인 대기(부록 B).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 Shopping Insight 화면·UI·기능 정의서</dc:title>
  <dc:subject>PptxGenJS Presentation</dc:subject>
  <dc:creator>PptxGenJS</dc:creator>
  <cp:lastModifiedBy>PptxGenJS</cp:lastModifiedBy>
  <cp:revision>1</cp:revision>
  <dcterms:created xsi:type="dcterms:W3CDTF">2026-09-08T03:13:08Z</dcterms:created>
  <dcterms:modified xsi:type="dcterms:W3CDTF">2026-09-08T03:13:08Z</dcterms:modified>
</cp:coreProperties>
</file>